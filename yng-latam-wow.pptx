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YNG LATAM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D69D23"/>
                </a:solidFill>
                <a:latin typeface="Calibri"/>
              </a:rPr>
              <a:t>Strategic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FY 26 –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A9AB0"/>
                </a:solidFill>
                <a:latin typeface="Calibri"/>
              </a:rPr>
              <a:t>Bogotá, 14 junio 2026  ·  09:00 – 14:15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7085"/>
                </a:solidFill>
                <a:latin typeface="Calibri"/>
              </a:rPr>
              <a:t>Facilitado por Pablo Sardi · Game Plan Coach · Experto externo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AB0"/>
                </a:solidFill>
                <a:latin typeface="Calibri"/>
              </a:rPr>
              <a:t>Powered by Nirvana AI</a:t>
            </a:r>
          </a:p>
        </p:txBody>
      </p:sp>
      <p:pic>
        <p:nvPicPr>
          <p:cNvPr id="11" name="Picture 10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0072" y="502920"/>
            <a:ext cx="2103120" cy="814251"/>
          </a:xfrm>
          <a:prstGeom prst="rect">
            <a:avLst/>
          </a:prstGeom>
        </p:spPr>
      </p:pic>
      <p:pic>
        <p:nvPicPr>
          <p:cNvPr id="12" name="Picture 1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FACILITADOR · GAME PLAN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Hoy no hay experto en la sala.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69D23"/>
                </a:solidFill>
                <a:latin typeface="Calibri"/>
              </a:rPr>
              <a:t>Hay un equipo que va a construir su próximo año.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017520"/>
            <a:ext cx="3566160" cy="256032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Un plan claro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49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AB0"/>
                </a:solidFill>
                <a:latin typeface="Calibri"/>
              </a:rPr>
              <a:t>SMART goals con número y fecha — sin ambigüedad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3017520"/>
            <a:ext cx="3566160" cy="256032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Compromisos reales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749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AB0"/>
                </a:solidFill>
                <a:latin typeface="Calibri"/>
              </a:rPr>
              <a:t>Cada portfolio sale con owners y KPIs definidos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017520"/>
            <a:ext cx="3566160" cy="256032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Un PlayBook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749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AB0"/>
                </a:solidFill>
                <a:latin typeface="Calibri"/>
              </a:rPr>
              <a:t>Documento vivo que guía el trabajo del board este año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Pablo Sardi · YPO LATAM Regional Chair · Game Plan Coach</a:t>
            </a:r>
          </a:p>
        </p:txBody>
      </p:sp>
      <p:pic>
        <p:nvPicPr>
          <p:cNvPr id="16" name="Picture 15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AGENDA · BOGOTÁ · 14 JUNIO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El plan para hoy.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5 horas · 1 propósito — salir con tu PlayBook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48840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99640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09:00 – 09:20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2199640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Intro · GamePlan · GRIT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199640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Pablo Sardi · Game Plan Coach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60904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711704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47BD1"/>
                </a:solidFill>
                <a:latin typeface="Calibri"/>
              </a:rPr>
              <a:t>09:20 – 10:00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11704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State of the Region · FY 25-26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711704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Data real · 2,813 elegibles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72968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223768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485E"/>
                </a:solidFill>
                <a:latin typeface="Calibri"/>
              </a:rPr>
              <a:t>10:00 – 11:00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3223768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Deep Dive #1 — Foros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223768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85032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8A9A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5832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9AB0"/>
                </a:solidFill>
                <a:latin typeface="Calibri"/>
              </a:rPr>
              <a:t>11:00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735832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— Break · 15 min 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97096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247896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485E"/>
                </a:solidFill>
                <a:latin typeface="Calibri"/>
              </a:rPr>
              <a:t>11:15 – 12:15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247896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Deep Dive #2 — Membresía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247896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709160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8A9A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759960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9AB0"/>
                </a:solidFill>
                <a:latin typeface="Calibri"/>
              </a:rPr>
              <a:t>12:15 – 13:15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4759960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— Almuerzo · 60 min 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221224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272024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13:15 – 13:45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5272024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Learning · Reactivar FY 26-27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272024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Pablo Sardi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733288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5784088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13:45 – 14:15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5784088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KPIs por Portafolio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5784088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Pablo Sardi · SMART Goals · Con número</a:t>
            </a:r>
          </a:p>
        </p:txBody>
      </p:sp>
      <p:pic>
        <p:nvPicPr>
          <p:cNvPr id="36" name="Picture 35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DATA · FY 25-26 · NIRVANA AI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YNG LATAM en números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3 años de crecimiento consecutivo — 22% → 27% → 31% enrollment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4884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69D23"/>
                </a:solidFill>
                <a:latin typeface="Calibri"/>
              </a:rPr>
              <a:t>2,813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08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Total Elegibles LATAM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4884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64A70B"/>
                </a:solidFill>
                <a:latin typeface="Calibri"/>
              </a:rPr>
              <a:t>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108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Enrolled FY 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214884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8485E"/>
                </a:solidFill>
                <a:latin typeface="Calibri"/>
              </a:rPr>
              <a:t>1,937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108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Sin activar (oportunidad)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6908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06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7BD1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29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Foros Regionales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406908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206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64A70B"/>
                </a:solidFill>
                <a:latin typeface="Calibri"/>
              </a:rPr>
              <a:t>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029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Grupos Locales Activos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406908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4206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753BBD"/>
                </a:solidFill>
                <a:latin typeface="Calibri"/>
              </a:rPr>
              <a:t>31%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5029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Enrollment Rate FY26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C070"/>
                </a:solidFill>
                <a:latin typeface="Calibri"/>
              </a:rPr>
              <a:t>LATAM pasó de 22% → 27% → 31% en 3 años. Potencial sin activar: 1,937 elegibles.</a:t>
            </a:r>
          </a:p>
        </p:txBody>
      </p:sp>
      <p:pic>
        <p:nvPicPr>
          <p:cNvPr id="25" name="Picture 24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CONTEXTO GLOBAL · YNG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¿Dónde estamos vs. el mundo?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LATAM creció — y tiene el camino más claro para llegar al 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3037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South Asia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30378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64A70B"/>
                </a:solidFill>
                <a:latin typeface="Calibri"/>
              </a:rPr>
              <a:t>61%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2367280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06040" y="2367280"/>
            <a:ext cx="3067812" cy="1524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962148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Middle East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962148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64A70B"/>
                </a:solidFill>
                <a:latin typeface="Calibri"/>
              </a:rPr>
              <a:t>47%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3025648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3025648"/>
            <a:ext cx="2363724" cy="1524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620516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Africa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3620516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64A70B"/>
                </a:solidFill>
                <a:latin typeface="Calibri"/>
              </a:rPr>
              <a:t>46%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3684016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06040" y="3684016"/>
            <a:ext cx="2313432" cy="1524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4177284"/>
            <a:ext cx="7680960" cy="658368"/>
          </a:xfrm>
          <a:prstGeom prst="rect">
            <a:avLst/>
          </a:prstGeom>
          <a:solidFill>
            <a:srgbClr val="14200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4278884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LATAM (nosotros)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278884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69D23"/>
                </a:solidFill>
                <a:latin typeface="Calibri"/>
              </a:rPr>
              <a:t>31%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4342384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06040" y="4342384"/>
            <a:ext cx="1559052" cy="1524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937252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Europe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937252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8A9AB0"/>
                </a:solidFill>
                <a:latin typeface="Calibri"/>
              </a:rPr>
              <a:t>27%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40" y="5000752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06040" y="5000752"/>
            <a:ext cx="1357884" cy="152400"/>
          </a:xfrm>
          <a:prstGeom prst="rect">
            <a:avLst/>
          </a:prstGeom>
          <a:solidFill>
            <a:srgbClr val="8A9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55956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Mid-America 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59562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8A9AB0"/>
                </a:solidFill>
                <a:latin typeface="Calibri"/>
              </a:rPr>
              <a:t>22%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06040" y="5659120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06040" y="5659120"/>
            <a:ext cx="1106424" cy="152400"/>
          </a:xfrm>
          <a:prstGeom prst="rect">
            <a:avLst/>
          </a:prstGeom>
          <a:solidFill>
            <a:srgbClr val="8A9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2194560"/>
            <a:ext cx="3749039" cy="1371600"/>
          </a:xfrm>
          <a:prstGeom prst="rect">
            <a:avLst/>
          </a:prstGeom>
          <a:solidFill>
            <a:srgbClr val="0E1A2C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23042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9D23"/>
                </a:solidFill>
                <a:latin typeface="Calibri"/>
              </a:rPr>
              <a:t>LA TENDENCIA DE LATAM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22% → 27% → 31%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309067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3 años consecutivos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8160" y="3703320"/>
            <a:ext cx="3749039" cy="1371600"/>
          </a:xfrm>
          <a:prstGeom prst="rect">
            <a:avLst/>
          </a:prstGeom>
          <a:solidFill>
            <a:srgbClr val="0E1A2C"/>
          </a:solidFill>
          <a:ln w="1524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38130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BD1"/>
                </a:solidFill>
                <a:latin typeface="Calibri"/>
              </a:rPr>
              <a:t>LA PREGUNTA DE HOY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1148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31% → Top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45994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¿Cómo llegamos?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38160" y="5212080"/>
            <a:ext cx="3749039" cy="1371600"/>
          </a:xfrm>
          <a:prstGeom prst="rect">
            <a:avLst/>
          </a:prstGeom>
          <a:solidFill>
            <a:srgbClr val="0E1A2C"/>
          </a:solidFill>
          <a:ln w="1524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53218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A70B"/>
                </a:solidFill>
                <a:latin typeface="Calibri"/>
              </a:rPr>
              <a:t>LA OPORTUNIDAD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56235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1,937 elegibles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610819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Sin activar en LATAM</a:t>
            </a:r>
          </a:p>
        </p:txBody>
      </p:sp>
      <p:pic>
        <p:nvPicPr>
          <p:cNvPr id="43" name="Picture 42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DATA · MEMBRESÍA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El gap de activación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Los países con mayor oportunidad — y los más críticos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9640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🇧🇷 Brazil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2275840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0" y="2275840"/>
            <a:ext cx="96012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81160" y="2199640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14%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11704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🇨🇴 Colombia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787904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6000" y="2787904"/>
            <a:ext cx="1234440" cy="177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2711704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18%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3768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🇲🇽 Guadalajara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3299968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3299968"/>
            <a:ext cx="1165860" cy="177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3223768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17%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735832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🇵🇦 Panama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3812032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0" y="3812032"/>
            <a:ext cx="61722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3735832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⚡ CRÍTICO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47896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🇦🇷 Argentina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4324096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86000" y="4324096"/>
            <a:ext cx="34290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4247896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⚡ CRÍTICO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59960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🇵🇪 Peru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4836160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86000" y="4836160"/>
            <a:ext cx="13716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81160" y="4759960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⚡ CRÍTICO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272024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🇪🇨 Ecuador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0" y="5348224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0" y="5348224"/>
            <a:ext cx="54864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81160" y="5272024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84088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🇲🇽 Monterrey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5860288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86000" y="5860288"/>
            <a:ext cx="1097280" cy="177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81160" y="5784088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16%</a:t>
            </a:r>
          </a:p>
        </p:txBody>
      </p:sp>
      <p:pic>
        <p:nvPicPr>
          <p:cNvPr id="38" name="Picture 37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A70B"/>
                </a:solidFill>
                <a:latin typeface="Calibri"/>
              </a:rPr>
              <a:t>DATA · BOARD FEEDBACK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Lo que ustedes dijeron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Respuestas reales del board saliente — sin filtro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4A70B"/>
                </a:solidFill>
                <a:latin typeface="Calibri"/>
              </a:rPr>
              <a:t>✓  Qué funcionó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62382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Exchange Brasil — mencionado por el 100% del 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4467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Autonomía del board y cultura de accountability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20624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2697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KPIs + reuniones periódicas mantuvieron al equipo alineado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02920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0927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Alta accesibilidad de board members: 4.7/5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1031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485E"/>
                </a:solidFill>
                <a:latin typeface="Calibri"/>
              </a:rPr>
              <a:t>✗  Qué cambiaríamos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56032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62382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Comunicación board → capítulos locales pendiente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38328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4467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Más eventos regionales — el Exchange no puede ser el único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20624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2697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Eventos de carrera y desarrollo profesional (pedido explícito)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502920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927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Learning: 0 eventos regionales propios en FY 25-26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D69D23"/>
                </a:solidFill>
                <a:latin typeface="Calibri"/>
              </a:rPr>
              <a:t>"El Exchange fue el momento que nos unió. ¿Cómo multiplicamos esa energía?"</a:t>
            </a:r>
          </a:p>
        </p:txBody>
      </p:sp>
      <p:pic>
        <p:nvPicPr>
          <p:cNvPr id="25" name="Picture 24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753B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53BBD"/>
                </a:solidFill>
                <a:latin typeface="Calibri"/>
              </a:rPr>
              <a:t>TU TURNO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¿Qué está funcionando?
¿Qué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Escanea · Responde en 2 minutos · Tu voz define el rumbo</a:t>
            </a:r>
          </a:p>
        </p:txBody>
      </p:sp>
      <p:pic>
        <p:nvPicPr>
          <p:cNvPr id="6" name="Picture 5" descr="yng_qr_p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2468880"/>
            <a:ext cx="32004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86000" y="585216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forms.gle · YNG LATAM Board Feedback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🟢  ¿Qué iniciativas del año pasado deberían continuar?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🔴  ¿Qué dejamos de hacer o necesita cambiar?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💡  ¿Qué nunca hemos hecho y deberíamos intentar este año?</a:t>
            </a:r>
          </a:p>
        </p:txBody>
      </p:sp>
      <p:pic>
        <p:nvPicPr>
          <p:cNvPr id="11" name="Picture 10" descr="yn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TEMAS ESTRATÉGICOS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Nuestros 2 focos este 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Confirmados hoy — basados en data + tu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5577840" cy="3840480"/>
          </a:xfrm>
          <a:prstGeom prst="rect">
            <a:avLst/>
          </a:prstGeom>
          <a:solidFill>
            <a:srgbClr val="0C182A"/>
          </a:solidFill>
          <a:ln w="254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77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TEMA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04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LATAM tiene 2,813 elegibles y solo 6 foros regionales.
El foro es el alma de YNG — más miembros necesitan acceder a esta experiencia transformadora.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029200"/>
            <a:ext cx="3200400" cy="457200"/>
          </a:xfrm>
          <a:prstGeom prst="rect">
            <a:avLst/>
          </a:prstGeom>
          <a:solidFill>
            <a:srgbClr val="102038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74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↑ Expandir cobertura regional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94560"/>
            <a:ext cx="5577840" cy="3840480"/>
          </a:xfrm>
          <a:prstGeom prst="rect">
            <a:avLst/>
          </a:prstGeom>
          <a:solidFill>
            <a:srgbClr val="0C182A"/>
          </a:solidFill>
          <a:ln w="254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377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47BD1"/>
                </a:solidFill>
                <a:latin typeface="Calibri"/>
              </a:rPr>
              <a:t>TEMA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Membresía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5204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876 enrolled de 2,813 elegibles. Pasamos de 22% → 27% → 31% en 3 años.
Brasil y Centroamérica tienen el mayor potencial sin activar.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5029200"/>
            <a:ext cx="3200400" cy="457200"/>
          </a:xfrm>
          <a:prstGeom prst="rect">
            <a:avLst/>
          </a:prstGeom>
          <a:solidFill>
            <a:srgbClr val="102038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5074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7BD1"/>
                </a:solidFill>
                <a:latin typeface="Calibri"/>
              </a:rPr>
              <a:t>↑ De 31% → 38% FY 26-27</a:t>
            </a:r>
          </a:p>
        </p:txBody>
      </p:sp>
      <p:pic>
        <p:nvPicPr>
          <p:cNvPr id="18" name="Picture 17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DEEP DIVE #1 · 10:00 – 11:00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Foros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94560"/>
            <a:ext cx="5120640" cy="2377440"/>
          </a:xfrm>
          <a:prstGeom prst="rect">
            <a:avLst/>
          </a:prstGeom>
          <a:solidFill>
            <a:srgbClr val="14080E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HOY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8485E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346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foros regionales activos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~10% de paying members en foros
Concentrado en Brazil · Colombia · México
0 foros en: Argentina · Panamá · Perú · Costa Rica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304560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solidFill>
            <a:srgbClr val="081408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A70B"/>
                </a:solidFill>
                <a:latin typeface="Calibri"/>
              </a:rPr>
              <a:t>FUTURO · Jun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0604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64A70B"/>
                </a:solidFill>
                <a:latin typeface="Calibri"/>
              </a:rPr>
              <a:t>9+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346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foros en LATAM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4612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20%+ de paying members en foros
Presencia en 10+ países
3 nuevos foros lanzados FY 26-27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9AB0"/>
                </a:solidFill>
                <a:latin typeface="Calibri"/>
              </a:rPr>
              <a:t>3 ACCIONES  ·  Owner  ·  KPI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485E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485E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485E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pic>
        <p:nvPicPr>
          <p:cNvPr id="27" name="Picture 26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DEEP DIVE #2 · 11:15 – 12:15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Membresía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94560"/>
            <a:ext cx="5120640" cy="2377440"/>
          </a:xfrm>
          <a:prstGeom prst="rect">
            <a:avLst/>
          </a:prstGeom>
          <a:solidFill>
            <a:srgbClr val="14080E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HOY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7860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D69D23"/>
                </a:solidFill>
                <a:latin typeface="Calibri"/>
              </a:rPr>
              <a:t>31%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834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enrollment LATAM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876 paying / 2,813 elegibles
Brazil: 14%  ·  Panama: 9%  ·  Peru: 2%
1,937 elegibles sin activar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304560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solidFill>
            <a:srgbClr val="060E18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FUTURO · Jun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7860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47BD1"/>
                </a:solidFill>
                <a:latin typeface="Calibri"/>
              </a:rPr>
              <a:t>38%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834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enrollment LATAM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4612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~1,070 paying members
Brazil: 22%+  ·  Cerrar brecha CRÍTICOS
+194 nuevos paying en FY 26-27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9AB0"/>
                </a:solidFill>
                <a:latin typeface="Calibri"/>
              </a:rPr>
              <a:t>3 ACCIONES  ·  Owner  ·  KPI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14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7BD1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14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7BD1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14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7BD1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pic>
        <p:nvPicPr>
          <p:cNvPr id="27" name="Picture 26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VISIÓN ESTRATÉGICA · FY 25-26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Big Bold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Los 3 compromisos que definen quiénes somos como 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94560"/>
            <a:ext cx="3611880" cy="3566160"/>
          </a:xfrm>
          <a:prstGeom prst="rect">
            <a:avLst/>
          </a:prstGeom>
          <a:solidFill>
            <a:srgbClr val="0E1E34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D69D23"/>
                </a:solidFill>
                <a:latin typeface="Calibri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1660" y="3017520"/>
            <a:ext cx="914400" cy="381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Best of the Best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862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Ser el board de YNG que marca el estándar a nivel mundial — en resultados, procesos y cultura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0E1E34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33172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47BD1"/>
                </a:solidFill>
                <a:latin typeface="Calibri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2140" y="3017520"/>
            <a:ext cx="914400" cy="381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3108960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United in Diversity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8862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22 países, culturas y realidades — convertimos esa diversidad en nuestra ventaja más poderosa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2194560"/>
            <a:ext cx="3611880" cy="3566160"/>
          </a:xfrm>
          <a:prstGeom prst="rect">
            <a:avLst/>
          </a:prstGeom>
          <a:solidFill>
            <a:srgbClr val="0E1E34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33172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64A70B"/>
                </a:solidFill>
                <a:latin typeface="Calibri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32620" y="3017520"/>
            <a:ext cx="914400" cy="381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08960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Benchmark 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8862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Cada portfolio con KPIs medibles, owners claros y resultados verificables en cada board meeting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5570"/>
                </a:solidFill>
                <a:latin typeface="Calibri"/>
              </a:rPr>
              <a:t>YNG LATAM · Strategic Board FY 25-26</a:t>
            </a:r>
          </a:p>
        </p:txBody>
      </p:sp>
      <p:pic>
        <p:nvPicPr>
          <p:cNvPr id="22" name="Picture 2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SMART GOALS · FY 26-27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Compromisos por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3 goals por portfolio · Con número · Con fecha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03120"/>
            <a:ext cx="566928" cy="717296"/>
          </a:xfrm>
          <a:prstGeom prst="rect">
            <a:avLst/>
          </a:prstGeom>
          <a:solidFill>
            <a:srgbClr val="D69D23"/>
          </a:solidFill>
          <a:ln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179320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412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9D23"/>
                </a:solidFill>
                <a:latin typeface="Calibri"/>
              </a:rPr>
              <a:t>LATAM Chair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8252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Ricardo Chavez · Peru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153920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204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53920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04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2153920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2204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71216"/>
            <a:ext cx="566928" cy="717296"/>
          </a:xfrm>
          <a:prstGeom prst="rect">
            <a:avLst/>
          </a:prstGeom>
          <a:solidFill>
            <a:srgbClr val="147BD1"/>
          </a:solidFill>
          <a:ln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947416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9093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7BD1"/>
                </a:solidFill>
                <a:latin typeface="Calibri"/>
              </a:rPr>
              <a:t>Membership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1506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Sebastian Sayagues · Costa Rica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2922016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297281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922016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97281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2922016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297281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639312"/>
            <a:ext cx="566928" cy="717296"/>
          </a:xfrm>
          <a:prstGeom prst="rect">
            <a:avLst/>
          </a:prstGeom>
          <a:solidFill>
            <a:srgbClr val="64A70B"/>
          </a:solidFill>
          <a:ln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715512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367741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4A70B"/>
                </a:solidFill>
                <a:latin typeface="Calibri"/>
              </a:rPr>
              <a:t>Forum Officer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391871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Daniela Dassum · Ecuador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0" y="3690112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0" y="374091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690112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74091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0" y="3690112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0" y="374091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407408"/>
            <a:ext cx="566928" cy="717296"/>
          </a:xfrm>
          <a:prstGeom prst="rect">
            <a:avLst/>
          </a:prstGeom>
          <a:solidFill>
            <a:srgbClr val="753BBD"/>
          </a:solidFill>
          <a:ln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483608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SB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44455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53BBD"/>
                </a:solidFill>
                <a:latin typeface="Calibri"/>
              </a:rPr>
              <a:t>Engagement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46868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Sophia Brenneken · Brazil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0" y="4458208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66160" y="45090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4458208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5090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4458208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45090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5175504"/>
            <a:ext cx="566928" cy="717296"/>
          </a:xfrm>
          <a:prstGeom prst="rect">
            <a:avLst/>
          </a:prstGeom>
          <a:solidFill>
            <a:srgbClr val="F8485E"/>
          </a:solidFill>
          <a:ln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5251704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52136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485E"/>
                </a:solidFill>
                <a:latin typeface="Calibri"/>
              </a:rPr>
              <a:t>Learning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545490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Guerrero · Harb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720" y="5226304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66160" y="5277104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5226304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5277104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0" y="5226304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35440" y="5277104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pic>
        <p:nvPicPr>
          <p:cNvPr id="56" name="Picture 55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PLAYBOOK FY 26-27 · EL RESULTADO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Cada portfolio sale con esto.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No lo armamos en otro momento — sale de aquí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37160" cy="164592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Mission &amp; 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La dirección compartida del board FY 26-27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28600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2286000"/>
            <a:ext cx="137160" cy="164592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Big Bold Objectives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0175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Los 3 BBOs que guían todas las decisiones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624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206240"/>
            <a:ext cx="137160" cy="164592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SMART 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377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3 goals por portfolio con número, owner y fecha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20624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4206240"/>
            <a:ext cx="137160" cy="1645920"/>
          </a:xfrm>
          <a:prstGeom prst="rect">
            <a:avLst/>
          </a:prstGeom>
          <a:solidFill>
            <a:srgbClr val="753B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3891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Directorio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9377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Contactos del board + reuniones de revisión</a:t>
            </a:r>
          </a:p>
        </p:txBody>
      </p:sp>
      <p:pic>
        <p:nvPicPr>
          <p:cNvPr id="22" name="Picture 2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SMART GOALS · NIRVANA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5 letras. Sin excusas.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Un SMART goal no es un deseo. Es una promesa medible.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D69D23"/>
                </a:solidFill>
                <a:latin typeface="Calibr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Específico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Si no puedes explicarlo sin 'mejorar', empieza de nuevo.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'Mejorar la comunicación'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'Reporte mensual a 22 capítulos'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24328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24328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7BD1"/>
                </a:solidFill>
                <a:latin typeface="Calibri"/>
              </a:rPr>
              <a:t>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5768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Medible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Sin número no es un goal. Es poesía.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'Crecer la membresía'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768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'De 420 a 520 paying'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74336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64A70B"/>
                </a:solidFill>
                <a:latin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Alcanzable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6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Ambicioso sí. Imposible no.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65776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'+300% miembros hoy'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5776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'+24% paying en FY 26-27'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24344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24344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753BBD"/>
                </a:solidFill>
                <a:latin typeface="Calibri"/>
              </a:rPr>
              <a:t>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15784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Relevante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15784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¿Le importa a YNG LATAM o solo a mí?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15784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'Aprender liderazgo'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5784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'3 foros en países sin foro'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74352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74352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8485E"/>
                </a:solidFill>
                <a:latin typeface="Calibri"/>
              </a:rPr>
              <a:t>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65792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Tiempo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5792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'Pronto' no existe en el calendario.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5792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'Fin de año'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65792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'31 marzo 2027'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69D23"/>
                </a:solidFill>
                <a:latin typeface="Calibri"/>
              </a:rPr>
              <a:t>Regla de oro: si no puedes marcar el día en el calendario, no es un SMART goal.</a:t>
            </a:r>
          </a:p>
        </p:txBody>
      </p:sp>
      <p:pic>
        <p:nvPicPr>
          <p:cNvPr id="37" name="Picture 36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A70B"/>
                </a:solidFill>
                <a:latin typeface="Calibri"/>
              </a:rPr>
              <a:t>VALIDADOR · NIRVANA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Ahora valida tus 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Copia el prompt → abre cualquier AI gratuito → pega + tu goal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6858000" cy="3931920"/>
          </a:xfrm>
          <a:prstGeom prst="rect">
            <a:avLst/>
          </a:prstGeom>
          <a:solidFill>
            <a:srgbClr val="060E18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6492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0FF80"/>
                </a:solidFill>
                <a:latin typeface="Calibri"/>
              </a:rPr>
              <a:t>Eres un coach de SMART Goals para el board de YNG LATAM.
Responde en el idioma en que te escriben.
Al recibir un goal responde:
  S — ¿Específico? ¿Se sabe QUÉ y QUIÉN?
  M — ¿Hay un número concreto?
  A — ¿Es realista?
  R — ¿Conecta con el portfolio?
  T — ¿Tiene fecha exacta?
Luego reescribe el goal de forma SMART.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2651760"/>
            <a:ext cx="4114800" cy="822960"/>
          </a:xfrm>
          <a:prstGeom prst="rect">
            <a:avLst/>
          </a:prstGeom>
          <a:solidFill>
            <a:srgbClr val="0C182A"/>
          </a:solidFill>
          <a:ln w="19050">
            <a:solidFill>
              <a:srgbClr val="D47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81635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Claude.ai  →  claude.ai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3703320"/>
            <a:ext cx="4114800" cy="822960"/>
          </a:xfrm>
          <a:prstGeom prst="rect">
            <a:avLst/>
          </a:prstGeom>
          <a:solidFill>
            <a:srgbClr val="0C182A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386791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ChatGPT  →  chatgpt.com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4754880"/>
            <a:ext cx="4114800" cy="82296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91947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Gemini  →  gemini.google.com</a:t>
            </a:r>
          </a:p>
        </p:txBody>
      </p:sp>
      <p:pic>
        <p:nvPicPr>
          <p:cNvPr id="14" name="Picture 13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¿Qué fue lo más útil de hoy
y cómo te ayuda a
liderar YNG LATAM?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88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D69D23"/>
                </a:solidFill>
                <a:latin typeface="Calibri"/>
              </a:rPr>
              <a:t>Thank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5120640"/>
            <a:ext cx="3200400" cy="54864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📋 Playbook en 48h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5120640"/>
            <a:ext cx="3200400" cy="54864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📊 KPIs en cada board meeting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5120640"/>
            <a:ext cx="3200400" cy="54864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✅ Validar SMART goals con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40080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Powered by Nirvana AI · YNG LATAM · Bogotá, junio 2026</a:t>
            </a:r>
          </a:p>
        </p:txBody>
      </p:sp>
      <p:pic>
        <p:nvPicPr>
          <p:cNvPr id="12" name="Picture 1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