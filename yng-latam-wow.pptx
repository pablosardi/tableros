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YNG LATAM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69D23"/>
                </a:solidFill>
                <a:latin typeface="Calibri"/>
              </a:rPr>
              <a:t>Strategic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FY 26 –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9AB0"/>
                </a:solidFill>
                <a:latin typeface="Calibri"/>
              </a:rPr>
              <a:t>Bogotá, 14 junio 2026  ·  09:00 – 14:15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085"/>
                </a:solidFill>
                <a:latin typeface="Calibri"/>
              </a:rPr>
              <a:t>Facilitado por Pablo Sardi · Game Plan Coach · Experto externo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Powered by Nirvana AI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502920"/>
            <a:ext cx="2103120" cy="814251"/>
          </a:xfrm>
          <a:prstGeom prst="rect">
            <a:avLst/>
          </a:prstGeom>
        </p:spPr>
      </p:pic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FACILITADOR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Hoy no hay experto en la sala.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69D23"/>
                </a:solidFill>
                <a:latin typeface="Calibri"/>
              </a:rPr>
              <a:t>Hay un equipo que va a construir su próximo año.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plan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SMART goals con número y fecha — sin ambigüedad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Compromisos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Cada portfolio sale con owners y KPIs definidos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Documento vivo que guía el trabajo del board este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Pablo Sardi · YPO LATAM Regional Chair · Game Plan Coach</a:t>
            </a:r>
          </a:p>
        </p:txBody>
      </p:sp>
      <p:pic>
        <p:nvPicPr>
          <p:cNvPr id="16" name="Picture 1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JOURNEY OF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69D23"/>
                </a:solidFill>
                <a:latin typeface="Calibri"/>
              </a:rPr>
              <a:t>años en YPO.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10 roles · Colombia → LATAM → Global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"Hoy no hay experto en la sala.
Hay un equipo que va a construir su próximo año."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— Pablo Sardi · Game Plan Coach certificado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03320"/>
            <a:ext cx="38100" cy="11430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097280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6480" y="113538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6480" y="130048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Miembro YPO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1200" y="113538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200" y="130048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Ch. &amp; Regions Council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660144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480" y="1698244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6480" y="1863344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YPO Council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660144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1200" y="1698244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1200" y="1863344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Membership Advisor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223008"/>
            <a:ext cx="3291840" cy="512064"/>
          </a:xfrm>
          <a:prstGeom prst="rect">
            <a:avLst/>
          </a:prstGeom>
          <a:solidFill>
            <a:srgbClr val="753BBD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6480" y="2261108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53BBD"/>
                </a:solidFill>
                <a:latin typeface="Calibri"/>
              </a:rPr>
              <a:t>2019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6480" y="2426208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3BBD"/>
                </a:solidFill>
                <a:latin typeface="Calibri"/>
              </a:rPr>
              <a:t>ASR Chair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223008"/>
            <a:ext cx="3291840" cy="512064"/>
          </a:xfrm>
          <a:prstGeom prst="rect">
            <a:avLst/>
          </a:prstGeom>
          <a:solidFill>
            <a:srgbClr val="D69D23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1200" y="2261108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2020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1200" y="2426208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Chapter Chair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785872"/>
            <a:ext cx="3291840" cy="512064"/>
          </a:xfrm>
          <a:prstGeom prst="rect">
            <a:avLst/>
          </a:prstGeom>
          <a:solidFill>
            <a:srgbClr val="F8485E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6480" y="2823972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485E"/>
                </a:solidFill>
                <a:latin typeface="Calibri"/>
              </a:rPr>
              <a:t>2021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6480" y="2989072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LATAM Regional Chair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785872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1200" y="2823972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1200" y="2989072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Learning Officer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3348736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6480" y="3386836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6480" y="3551936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Engagement Officer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3348736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1200" y="3386836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1200" y="3551936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Mentoring Officer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3911600"/>
            <a:ext cx="3291840" cy="512064"/>
          </a:xfrm>
          <a:prstGeom prst="rect">
            <a:avLst/>
          </a:prstGeom>
          <a:solidFill>
            <a:srgbClr val="D69D23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6480" y="394970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6480" y="411480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Game Plan Coach ★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AGENDA · BOGOTÁ · 14 JUNIO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plan para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5 horas · 1 propósito — salir con tu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964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09:00 – 09:20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19964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Intro · GamePlan · GRIT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99640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Game Plan Coach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6090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1170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09:20 – 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170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of the Region · FY 25-26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1170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Data real · 2,813 elegibles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2376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10:00 – 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22376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#1 — Foros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2376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85032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5832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5832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Break · 15 min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7896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11:15 – 12:15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247896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#2 — Membresía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247896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75996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12:15 – 13:15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5996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Almuerzo · 60 min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2122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7202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13:15 – 13:45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27202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Learning · Reactivar FY 26-27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7202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3328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408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13:45 – 14:15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78408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KPIs por Portafolio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78408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SMART Goals · Con número</a:t>
            </a:r>
          </a:p>
        </p:txBody>
      </p:sp>
      <p:pic>
        <p:nvPicPr>
          <p:cNvPr id="36" name="Picture 3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uestra_plan_y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YPO CORE VALUES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What is Servant
Leadership?</a:t>
            </a:r>
          </a:p>
        </p:txBody>
      </p:sp>
      <p:pic>
        <p:nvPicPr>
          <p:cNvPr id="5" name="Picture 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DATA · FY 25-26 · NIRVANA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YNG LATAM en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años de crecimiento consecutivo — 22% → 27% → 31%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69D23"/>
                </a:solidFill>
                <a:latin typeface="Calibri"/>
              </a:rPr>
              <a:t>2,813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Total Elegibles LATAM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Enrolled FY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485E"/>
                </a:solidFill>
                <a:latin typeface="Calibri"/>
              </a:rPr>
              <a:t>1,937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Sin activar (oportunidad)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7BD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Foros Regionales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Grupos Locales Activos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53BBD"/>
                </a:solidFill>
                <a:latin typeface="Calibri"/>
              </a:rPr>
              <a:t>31%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Enrollment Rate FY26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C070"/>
                </a:solidFill>
                <a:latin typeface="Calibri"/>
              </a:rPr>
              <a:t>LATAM pasó de 22% → 27% → 31% en 3 años. Potencial sin activar: 1,937 elegibles.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CONTEXTO GLOBAL · YNG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¿Dónde estamos vs. el mundo?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LATAM creció — y tiene el camino más claro para llegar al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037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South 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3037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61%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236728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2367280"/>
            <a:ext cx="306781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14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 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962148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025648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025648"/>
            <a:ext cx="2363724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2051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620516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4016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3684016"/>
            <a:ext cx="231343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77284"/>
            <a:ext cx="7680960" cy="658368"/>
          </a:xfrm>
          <a:prstGeom prst="rect">
            <a:avLst/>
          </a:prstGeom>
          <a:solidFill>
            <a:srgbClr val="14200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7888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LATAM (nosotros)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278884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342384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6040" y="4342384"/>
            <a:ext cx="1559052" cy="1524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372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Europe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25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5000752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5000752"/>
            <a:ext cx="135788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956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Mid-America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9562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65912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40" y="5659120"/>
            <a:ext cx="110642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19456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304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LA TENDENCIA DE LATAM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22% → 27% → 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090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3 años consecutivos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370332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813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BD1"/>
                </a:solidFill>
                <a:latin typeface="Calibri"/>
              </a:rPr>
              <a:t>LA PREGUNTA DE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31% → Top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994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¿Cómo llegamos?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521208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3218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A70B"/>
                </a:solidFill>
                <a:latin typeface="Calibri"/>
              </a:rPr>
              <a:t>LA OPORTUNIDAD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6235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1,937 elegibles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108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Sin activar en LATAM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DATA · MEMBRESÍA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gap de activación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países con mayor oportunidad — y los más críticos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964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🇧🇷 Brazil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27584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275840"/>
            <a:ext cx="9601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1160" y="219964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170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🇨🇴 Colombia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78790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787904"/>
            <a:ext cx="123444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71170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376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Guadalajara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9996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3299968"/>
            <a:ext cx="116586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322376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5832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🇵🇦 Panama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812032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3812032"/>
            <a:ext cx="6172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735832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47896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🇦🇷 Argentina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324096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4324096"/>
            <a:ext cx="34290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4247896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996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🇵🇪 Peru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83616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4836160"/>
            <a:ext cx="13716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475996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7202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🇪🇨 Ecuador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534822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5348224"/>
            <a:ext cx="54864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527202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8408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Monterrey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6028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0" y="5860288"/>
            <a:ext cx="109728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78408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16%</a:t>
            </a:r>
          </a:p>
        </p:txBody>
      </p:sp>
      <p:pic>
        <p:nvPicPr>
          <p:cNvPr id="38" name="Picture 3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DATA · BOARD FEEDBACK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Lo que ustedes dijeron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Respuestas reales del board saliente — sin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✓  Qué funcionó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Exchange Brasil — mencionado por el 100% del 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Autonomía del board y cultura de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KPIs + reuniones periódicas mantuvieron al equipo alineado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Alta accesibilidad de board members: 4.7/5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✗  Qué cambiaríamos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6032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Comunicación board → capítulos locales pendiente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Más eventos regionales — el Exchange no puede ser el único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Eventos de carrera y desarrollo profesional (pedido explícito)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02920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Learning: 0 eventos regionales propios en FY 25-26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9D23"/>
                </a:solidFill>
                <a:latin typeface="Calibri"/>
              </a:rPr>
              <a:t>"El Exchange fue el momento que nos unió. ¿Cómo multiplicamos esa energía?"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53BBD"/>
                </a:solidFill>
                <a:latin typeface="Calibri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está funcionando?
¿Qué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Escanea · Responde en 2 minutos · Tu voz define el rumbo</a:t>
            </a:r>
          </a:p>
        </p:txBody>
      </p:sp>
      <p:pic>
        <p:nvPicPr>
          <p:cNvPr id="6" name="Picture 5" descr="yng_qr_p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6888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852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forms.gle · YNG LATAM Board Feedback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🟢  ¿Qué iniciativas del año pasado deberían continuar?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¿Qué dejamos de hacer o necesita cambiar?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💡  ¿Qué nunca hemos hecho y deberíamos intentar este año?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TEMAS ESTRATÉGICOS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Nuestros 2 focos este 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Confirmados hoy — basados en data + tu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LATAM tiene 2,813 elegibles y solo 6 foros regionales.
El foro es el alma de YNG — más miembros necesitan acceder a esta experiencia transformadora.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↑ Expandir cobertura regional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TEMA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876 enrolled de 2,813 elegibles. Pasamos de 22% → 27% → 31% en 3 años.
Brasil y Centroamérica tienen el mayor potencial sin activar.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BD1"/>
                </a:solidFill>
                <a:latin typeface="Calibri"/>
              </a:rPr>
              <a:t>↑ De 31% → 38% FY 26-27</a:t>
            </a:r>
          </a:p>
        </p:txBody>
      </p:sp>
      <p:pic>
        <p:nvPicPr>
          <p:cNvPr id="18" name="Picture 1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DEEP DIVE #1 · 10:00 –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8485E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regionales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~10% de paying members en foros
Concentrado en Brazil · Colombia · México
0 foros en: Argentina · Panamá · Perú · Costa 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81408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64A70B"/>
                </a:solidFill>
                <a:latin typeface="Calibri"/>
              </a:rPr>
              <a:t>9+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en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20%+ de paying members en foros
Presencia en 10+ países
3 nuevos foros lanzados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DEEP DIVE #2 · 11:15 – 12:15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876 paying / 2,813 elegibles
Brazil: 14%  ·  Panama: 9%  ·  Peru: 2%
1,937 elegibles sin activar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60E18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47BD1"/>
                </a:solidFill>
                <a:latin typeface="Calibri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~1,070 paying members
Brazil: 22%+  ·  Cerrar brecha CRÍTICOS
+194 nuevos paying en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VISIÓN ESTRATÉGICA · FY 25-26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3 compromisos que definen quiénes somos como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9D23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1660" y="3017520"/>
            <a:ext cx="914400" cy="381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Best of the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Ser el board de YNG que marca el estándar a nivel mundial — en resultados, procesos y cultura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7BD1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140" y="3017520"/>
            <a:ext cx="914400" cy="381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United in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22 países, culturas y realidades — convertimos esa diversidad en nuestra ventaja más poderosa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4A70B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32620" y="3017520"/>
            <a:ext cx="914400" cy="381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Benchmark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Cada portfolio con KPIs medibles, owners claros y resultados verificables en cada board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5570"/>
                </a:solidFill>
                <a:latin typeface="Calibri"/>
              </a:rPr>
              <a:t>YNG LATAM · Strategic Board FY 25-26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FY 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Compromisos por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goals por portfolio · Con número · Con fecha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" cy="717296"/>
          </a:xfrm>
          <a:prstGeom prst="rect">
            <a:avLst/>
          </a:prstGeom>
          <a:solidFill>
            <a:srgbClr val="D69D23"/>
          </a:solidFill>
          <a:ln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79320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12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9D23"/>
                </a:solidFill>
                <a:latin typeface="Calibri"/>
              </a:rPr>
              <a:t>LATAM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82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Ricardo Chavez · Peru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71216"/>
            <a:ext cx="566928" cy="717296"/>
          </a:xfrm>
          <a:prstGeom prst="rect">
            <a:avLst/>
          </a:prstGeom>
          <a:solidFill>
            <a:srgbClr val="147BD1"/>
          </a:solidFill>
          <a:ln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741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093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7BD1"/>
                </a:solidFill>
                <a:latin typeface="Calibri"/>
              </a:rPr>
              <a:t>Membership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150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Sebastian Sayagues · Costa 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39312"/>
            <a:ext cx="566928" cy="717296"/>
          </a:xfrm>
          <a:prstGeom prst="rect">
            <a:avLst/>
          </a:prstGeom>
          <a:solidFill>
            <a:srgbClr val="64A70B"/>
          </a:solidFill>
          <a:ln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15512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6774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Forum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187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Daniela Dassum · Ecuador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07408"/>
            <a:ext cx="566928" cy="717296"/>
          </a:xfrm>
          <a:prstGeom prst="rect">
            <a:avLst/>
          </a:prstGeom>
          <a:solidFill>
            <a:srgbClr val="753BBD"/>
          </a:solidFill>
          <a:ln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360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4455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53BBD"/>
                </a:solidFill>
                <a:latin typeface="Calibri"/>
              </a:rPr>
              <a:t>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46868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Sophia Brenneken · Brazil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175504"/>
            <a:ext cx="566928" cy="717296"/>
          </a:xfrm>
          <a:prstGeom prst="rect">
            <a:avLst/>
          </a:prstGeom>
          <a:solidFill>
            <a:srgbClr val="F8485E"/>
          </a:solidFill>
          <a:ln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251704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2136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Learning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454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Guerrero · Harb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544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pic>
        <p:nvPicPr>
          <p:cNvPr id="56" name="Picture 5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PLAYBOOK FY 26-27 · EL RESULTADO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Cada portfolio sale con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No lo armamos en otro momento — sale de aquí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37160" cy="164592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Mission &amp;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 dirección compartida del board FY 26-27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137160" cy="164592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Los 3 BBOs que guían todas las decisiones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37160" cy="164592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SMART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3 goals por portfolio con número, owner y fecha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137160" cy="164592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Directorio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Contactos del board + reuniones de revisión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5 letras. Sin excusas.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Un SMART goal no es un deseo. Es una promesa medible.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D69D23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Específico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 no puedes explicarlo sin 'mejorar', empieza de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'Mejorar la comunicación'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'Reporte mensual a 22 capítulos'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7BD1"/>
                </a:solidFill>
                <a:latin typeface="Calibri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Sin número no es un goal. Es poesía.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'Crecer la membresía'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'De 420 a 520 paying'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A70B"/>
                </a:solidFill>
                <a:latin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Alcanzable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Ambicioso sí. Imposible no.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'+300% miembros hoy'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'+24% paying en FY 26-27'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24344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53BBD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4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Relevante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¿Le importa a YNG LATAM o solo a mí?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'Aprender liderazgo'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 foros en países sin foro'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485E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'Pronto' no existe en el calendario.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'Fin de año'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'31 marzo 2027'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9D23"/>
                </a:solidFill>
                <a:latin typeface="Calibri"/>
              </a:rPr>
              <a:t>Regla de oro: si no puedes marcar el día en el calendario, no es un SMART goal.</a:t>
            </a:r>
          </a:p>
        </p:txBody>
      </p:sp>
      <p:pic>
        <p:nvPicPr>
          <p:cNvPr id="37" name="Picture 3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VALIDADOR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Ahora valida tus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Copia el prompt → abre cualquier AI gratuito → pega + tu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6858000" cy="3931920"/>
          </a:xfrm>
          <a:prstGeom prst="rect">
            <a:avLst/>
          </a:prstGeom>
          <a:solidFill>
            <a:srgbClr val="060E18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FF80"/>
                </a:solidFill>
                <a:latin typeface="Calibri"/>
              </a:rPr>
              <a:t>Eres un coach de SMART Goals para el board de YNG LATAM.
Responde en el idioma en que te escriben.
Al recibir un goal responde:
  S — ¿Específico? ¿Se sabe QUÉ y QUIÉN?
  M — ¿Hay un número concreto?
  A — ¿Es realista?
  R — ¿Conecta con el portfolio?
  T — ¿Tiene fecha exacta?
Luego reescribe el goal de forma SMART.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65176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D47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16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Claude.ai  → 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0332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8679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ChatGPT  →  chatgpt.com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Gemini  →  gemini.google.com</a:t>
            </a:r>
          </a:p>
        </p:txBody>
      </p:sp>
      <p:pic>
        <p:nvPicPr>
          <p:cNvPr id="14" name="Picture 13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fue lo más útil de hoy
y cómo te ayuda a
liderar YNG LATAM?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9D23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📋 Playbook en 48h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📊 KPIs en cada board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✅ Validar SMART goals con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Powered by Nirvana AI · YNG LATAM · Bogotá, junio 2026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